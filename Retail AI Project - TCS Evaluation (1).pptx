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SemiBold"/>
      <p:regular r:id="rId18"/>
      <p:bold r:id="rId19"/>
      <p:italic r:id="rId20"/>
      <p:boldItalic r:id="rId21"/>
    </p:embeddedFont>
    <p:embeddedFont>
      <p:font typeface="Urbanist Medium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4D0DA8-8F99-4545-925E-4A2CAC92EDA7}">
  <a:tblStyle styleId="{814D0DA8-8F99-4545-925E-4A2CAC92ED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italic.fntdata"/><Relationship Id="rId22" Type="http://schemas.openxmlformats.org/officeDocument/2006/relationships/font" Target="fonts/UrbanistMedium-regular.fntdata"/><Relationship Id="rId21" Type="http://schemas.openxmlformats.org/officeDocument/2006/relationships/font" Target="fonts/UrbanistSemiBold-boldItalic.fntdata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regular.fntdata"/><Relationship Id="rId25" Type="http://schemas.openxmlformats.org/officeDocument/2006/relationships/font" Target="fonts/UrbanistMedium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SemiBold-bold.fntdata"/><Relationship Id="rId18" Type="http://schemas.openxmlformats.org/officeDocument/2006/relationships/font" Target="fonts/Urbanis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5500b6389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e5500b6389_0_4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5500b638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e5500b6389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5500b638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5500b6389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5500b6389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e5500b6389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5500b6389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e5500b6389_0_2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5500b6389_0_3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e5500b6389_0_3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10" Type="http://schemas.openxmlformats.org/officeDocument/2006/relationships/image" Target="../media/image6.png"/><Relationship Id="rId9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hyperlink" Target="https://github.com/codepool1437/suspicious-activity-detection/" TargetMode="External"/><Relationship Id="rId5" Type="http://schemas.openxmlformats.org/officeDocument/2006/relationships/hyperlink" Target="https://universe.roboflow.com/jaydips-workspace/person-with-hoodie-detection/browse?queryText=&amp;pageSize=50&amp;startingIndex=0&amp;browseQuery=true" TargetMode="External"/><Relationship Id="rId6" Type="http://schemas.openxmlformats.org/officeDocument/2006/relationships/hyperlink" Target="https://drive.google.com/drive/folders/1GjOLezeuBzys1ivUccTUHrPrp8QYmo5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366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80950" y="1173677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TCS INDUSTRY PROJECT - THIRD YEAR </a:t>
            </a:r>
            <a:r>
              <a:rPr lang="en-US" sz="1800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‘ </a:t>
            </a:r>
            <a:r>
              <a:rPr b="0" i="0" lang="en-US" sz="18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D-10 </a:t>
            </a:r>
            <a:r>
              <a:rPr lang="en-US" sz="1800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’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5251" y="1450877"/>
            <a:ext cx="11581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Suspicious Activity Detection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649225" y="2189774"/>
            <a:ext cx="11030100" cy="8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Real-Time Surveillance Architecture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1F5F9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aphicFrame>
        <p:nvGraphicFramePr>
          <p:cNvPr id="88" name="Google Shape;88;p13"/>
          <p:cNvGraphicFramePr/>
          <p:nvPr/>
        </p:nvGraphicFramePr>
        <p:xfrm>
          <a:off x="1981200" y="292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{814D0DA8-8F99-4545-925E-4A2CAC92EDA7}</a:tableStyleId>
              </a:tblPr>
              <a:tblGrid>
                <a:gridCol w="814200"/>
                <a:gridCol w="4011000"/>
                <a:gridCol w="1934425"/>
                <a:gridCol w="1469975"/>
              </a:tblGrid>
              <a:tr h="6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SR NO.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NAME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PRN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ROLL  NO.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ISHA KOMERVELLIWAR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22310683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324027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RITU PATIL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22310761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324029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BHAKTI SARAP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22310826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324032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66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JAYDIP CHAVAN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22310913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324033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71525" y="1289893"/>
            <a:ext cx="49905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Shoplifting &amp; Surveillance Limitations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581025" y="1289893"/>
            <a:ext cx="57150" cy="9715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14400" y="2794843"/>
            <a:ext cx="461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Core Problem: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Shoplifting accounts for massive inventory loss annually.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14400" y="3537793"/>
            <a:ext cx="461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Human Limitation: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Security guards cannot monitor 50+ streams simultaneously.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14400" y="4280743"/>
            <a:ext cx="461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Reactive Failure: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Reviewing footage after theft is too late.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14400" y="5023693"/>
            <a:ext cx="4610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Proposed Solution: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AI Co-Pilot for proactive, real-time security alerts.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2794843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3537793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81025" y="4280743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581025" y="5023693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-1122" r="0" t="0"/>
          <a:stretch/>
        </p:blipFill>
        <p:spPr>
          <a:xfrm>
            <a:off x="6027400" y="0"/>
            <a:ext cx="61646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62187"/>
            <a:ext cx="2614612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6137" y="2262187"/>
            <a:ext cx="2614612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262187"/>
            <a:ext cx="2614612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96362" y="2262187"/>
            <a:ext cx="2614612" cy="21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81025" y="4986337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Built with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Python 3.9+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Ultralytics YOLO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and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Streamlit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for modularity.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69268" y="2557462"/>
            <a:ext cx="2381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25698" y="3128962"/>
            <a:ext cx="212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Trajectory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76300" y="3509962"/>
            <a:ext cx="20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BoT-SORT tracking with persistence buffer.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9131" y="255746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3630810" y="3128962"/>
            <a:ext cx="212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Concealment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681412" y="3509962"/>
            <a:ext cx="20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Custom YOLOv12n for Hoodie detection.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08056" y="25574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6435923" y="3128962"/>
            <a:ext cx="212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Hand-in-Bag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486525" y="3509962"/>
            <a:ext cx="20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Sensor fusion: Pose + Object Detection.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60793" y="255746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9241035" y="3128962"/>
            <a:ext cx="2125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Pocketing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9291637" y="3509962"/>
            <a:ext cx="20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Action Recognition &amp; Pose Heuristics.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71525" y="581025"/>
            <a:ext cx="555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4-Pillar Modular Architecture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81025" y="581025"/>
            <a:ext cx="57300" cy="4857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81025" y="248126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Custom Data Engineering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962025" y="2957512"/>
            <a:ext cx="4848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Dataset Mining: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3,959 images custom-mined from UFC Crime Dataset (No pre-existing high-quality sets found).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62025" y="3719512"/>
            <a:ext cx="4848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Architecture: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Trained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YOLOv12n (Nano)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for 300 epochs on Kaggle Cloud GPUs.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962025" y="4481512"/>
            <a:ext cx="4848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Inference: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Optimized for high mAP on classes: Normal (0) and Hoodie (1).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81025" y="295751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81025" y="371951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81025" y="448151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71525" y="581025"/>
            <a:ext cx="5430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Module 1: Face Concealment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581025" y="581025"/>
            <a:ext cx="57300" cy="4857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2125" y="1836075"/>
            <a:ext cx="5672326" cy="404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381750" y="309488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C55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BoT-SORT with ReID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15125" y="3571130"/>
            <a:ext cx="4895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Uses Re-Identification (ReID) for ID persistence.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6715125" y="4028330"/>
            <a:ext cx="4895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120-Frame Buffer: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Retains unique IDs for ~4 seconds even during occlusion behind store shelves.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715125" y="4771280"/>
            <a:ext cx="48958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Identifies loitering and abnormal circulation paths.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381750" y="357113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381750" y="402833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381750" y="477128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MODULE 2: CUSTOMER TRAJECTORY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825" y="2327800"/>
            <a:ext cx="5139399" cy="368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7565" y="2195512"/>
            <a:ext cx="4183409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12700" y="1814139"/>
            <a:ext cx="6588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Heuristic: Hand in Personal Bag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12700" y="2195489"/>
            <a:ext cx="62751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Detecting the highly suspicious gesture of placing a hand into a non-store backpack/handbag.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713315" y="2481262"/>
            <a:ext cx="3792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Sensor Fusion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094315" y="2957512"/>
            <a:ext cx="323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YOLO12n: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Tracks Bounding Boxes for Backpack/Handbag.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094315" y="3719512"/>
            <a:ext cx="323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YOLO11n-Pose: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Tracks 17 Human Keypoints.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8094315" y="4481512"/>
            <a:ext cx="323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Intersection Logic: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Fusing Wrist Keypoints with Bag BBox.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713315" y="295751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7713315" y="371951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713315" y="448151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771525" y="581025"/>
            <a:ext cx="554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Module 3: Action Recognition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581025" y="581025"/>
            <a:ext cx="57300" cy="4857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700" y="3032825"/>
            <a:ext cx="5443700" cy="2642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6381750" y="2481262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Multi-Stage Heuristic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762750" y="2957512"/>
            <a:ext cx="4848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Stage 1 (Held):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Euclidean distance between Wrist &amp; Object &lt; Threshold.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762750" y="3719512"/>
            <a:ext cx="4848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Stage 2 (Memory):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60-frame buffer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remembers the item even if obscured by the hand.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762750" y="4481512"/>
            <a:ext cx="48483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Stage 3 (Pocketed):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Final check of Wrist distance to </a:t>
            </a:r>
            <a:r>
              <a:rPr b="1" i="0" lang="en-US" sz="15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Hip Keypoint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triggers "ITEM POCKETED".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381750" y="295751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381750" y="371951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381750" y="4481512"/>
            <a:ext cx="19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71525" y="581025"/>
            <a:ext cx="4970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Module 4: Pocketing Logic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581025" y="581025"/>
            <a:ext cx="57300" cy="4857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9000" y="2333513"/>
            <a:ext cx="5051049" cy="3349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56655"/>
            <a:ext cx="5229225" cy="394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56655"/>
            <a:ext cx="5229225" cy="394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971550" y="2713880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C55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Engineering Realities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71550" y="3228230"/>
            <a:ext cx="44481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Training object detection for 10,000+ unique supermarket SKUs (razors, cosmetics, snacks) is a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corporate data-engineering task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not a research-level logic milestone.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71550" y="4561730"/>
            <a:ext cx="44481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deliberately bypassed this bottleneck to focus on the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computational complexity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of the action recognition pipeline.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772275" y="2713880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22C55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Logic is the Achievement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6772275" y="3228230"/>
            <a:ext cx="44481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We used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Cell Phones (COCO class 67)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as a deliberate proxy. The specific item is irrelevant; the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success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lies in the fusion of Pose Estimation + Object Tracking + Temporal Heuristics.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6772275" y="4561730"/>
            <a:ext cx="44481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Our architecture is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Weight-Agnostic</a:t>
            </a:r>
            <a:r>
              <a:rPr b="0" i="0" lang="en-US" sz="15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: Simply swap item weights to deploy in any retail environment.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71525" y="913060"/>
            <a:ext cx="1138142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STRATEGIC POC VALIDATION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9" cy="6913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305276" y="1266825"/>
            <a:ext cx="11581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2C55E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581025" y="2409825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1F5F9"/>
                </a:solidFill>
                <a:latin typeface="Urbanist"/>
                <a:ea typeface="Urbanist"/>
                <a:cs typeface="Urbanist"/>
                <a:sym typeface="Urbanist"/>
              </a:rPr>
              <a:t>Suspicious Activity Detection Pipeline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81025" y="3228975"/>
            <a:ext cx="1103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Questions &amp; Feedback?</a:t>
            </a:r>
            <a:endParaRPr/>
          </a:p>
        </p:txBody>
      </p:sp>
      <p:pic>
        <p:nvPicPr>
          <p:cNvPr descr="image.png" id="220" name="Google Shape;22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9212" y="4638675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4467225" y="5114925"/>
            <a:ext cx="1686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TCS Industry Project</a:t>
            </a:r>
            <a:endParaRPr/>
          </a:p>
        </p:txBody>
      </p:sp>
      <p:pic>
        <p:nvPicPr>
          <p:cNvPr descr="image.png" id="222" name="Google Shape;22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86587" y="4638675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6534150" y="5114925"/>
            <a:ext cx="11907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Edge AI Vision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3"/>
          <p:cNvSpPr/>
          <p:nvPr/>
        </p:nvSpPr>
        <p:spPr>
          <a:xfrm>
            <a:off x="581025" y="2521363"/>
            <a:ext cx="99345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581025" y="325204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581025" y="3252043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581025" y="4444043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81025" y="5288618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771525" y="2546350"/>
            <a:ext cx="9934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rgbClr val="1155CC"/>
                </a:solidFill>
                <a:latin typeface="Urbanist"/>
                <a:ea typeface="Urbanist"/>
                <a:cs typeface="Urbanist"/>
                <a:sym typeface="Urbanis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https://github.com/codepool1437/suspicious-activity-detection/</a:t>
            </a:r>
            <a:endParaRPr sz="1500">
              <a:solidFill>
                <a:srgbClr val="1155CC"/>
              </a:solidFill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771525" y="2922312"/>
            <a:ext cx="99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github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.com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771525" y="3374450"/>
            <a:ext cx="9934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rgbClr val="1155CC"/>
                </a:solidFill>
                <a:latin typeface="Urbanist"/>
                <a:ea typeface="Urbanist"/>
                <a:cs typeface="Urbanist"/>
                <a:sym typeface="Urbanis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https://universe.roboflow.com/jaydips-workspace/person-with-hoodie-detection/browse?queryText=&amp;pageSize=50&amp;startingIndex=0&amp;browseQuery=true</a:t>
            </a:r>
            <a:endParaRPr sz="1500">
              <a:solidFill>
                <a:srgbClr val="1155CC"/>
              </a:solidFill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771513" y="4105462"/>
            <a:ext cx="99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</a:t>
            </a:r>
            <a:r>
              <a:rPr lang="en-US" sz="1200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 roboflow.com</a:t>
            </a:r>
            <a:endParaRPr>
              <a:solidFill>
                <a:srgbClr val="4F46E5"/>
              </a:solidFill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771525" y="913060"/>
            <a:ext cx="113814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DATASET AND CODEBASE</a:t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581025" y="913060"/>
            <a:ext cx="57150" cy="485775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 txBox="1"/>
          <p:nvPr/>
        </p:nvSpPr>
        <p:spPr>
          <a:xfrm>
            <a:off x="638175" y="4422150"/>
            <a:ext cx="1043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u="sng">
                <a:solidFill>
                  <a:srgbClr val="1155CC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https://drive.google.com/drive/folders/1GjOLezeuBzys1ivUccTUHrPrp8QYmo5n</a:t>
            </a:r>
            <a:endParaRPr sz="1500">
              <a:solidFill>
                <a:srgbClr val="1155CC"/>
              </a:solidFill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771513" y="4970737"/>
            <a:ext cx="993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Source:</a:t>
            </a:r>
            <a:r>
              <a:rPr lang="en-US" sz="1200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 drive.google.com</a:t>
            </a:r>
            <a:endParaRPr>
              <a:solidFill>
                <a:srgbClr val="4F46E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